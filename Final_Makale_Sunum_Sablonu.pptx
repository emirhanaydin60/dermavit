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627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</a:t>
            </a:r>
            <a:r>
              <a:rPr lang="en-US" sz="3400" b="1" dirty="0" err="1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Bildiri</a:t>
            </a:r>
            <a:r>
              <a:rPr lang="en-US" sz="3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Sunumu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49808" y="18105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55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Görüntü Sınıflandırma Üzerine Akademik Çalışma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2359152"/>
            <a:ext cx="1056132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539496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Emirhan AYDIN</a:t>
            </a:r>
            <a:endParaRPr lang="en-US" sz="1600" dirty="0"/>
          </a:p>
          <a:p>
            <a:pPr marL="0" indent="0">
              <a:buNone/>
            </a:pP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ISIC 2019 </a:t>
            </a:r>
            <a:r>
              <a:rPr lang="en-US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</a:t>
            </a:r>
            <a:r>
              <a:rPr lang="tr-TR" sz="16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Dermatolojik Görüntü Sınıflandırması</a:t>
            </a:r>
            <a:endParaRPr lang="en-US" sz="1600" dirty="0"/>
          </a:p>
          <a:p>
            <a:pPr marL="0" indent="0">
              <a:buNone/>
            </a:pPr>
            <a:r>
              <a:rPr lang="tr-TR" sz="1600" dirty="0"/>
              <a:t>ViT Modellerinin Fine Tune Sonuçlarının Karşılaştırılması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4709160"/>
            <a:ext cx="101498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sunum, final makale/bildiri çalışmasının ana fikrini, yöntemini, bulgularını ve tartışmasını kısa biçimde aktarmak için hazırlanmıştır.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1/10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Problem ve Araştırma Odağı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Makalenizin hangi soruya cevap aradığını netleştirin.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2/10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Problem: Dermatoskopik görüntülerden deri lezyonu sınıflandırılması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Kümesi: ISIC 2019 (25.331 görüntü, 8 sınıf)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Amaç: Vision Transformer modellerinin karşılaştırılması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Kapsam: ViT, DeiT, CaiT, BEiT, Swin, PVT-v2, ConViT, MobileViT ve MaxViT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bölüm kısa olmalıdır; amaç, dinleyicinin çalışmanın yönünü hemen anlamasıdır.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Veri Kümesi ve Problem Bağlamı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Veriyi tanıtın; ancak önceki ödevin uzun tekrarını yapmayın.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3/10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ISIC 2019 Challenge veri kümesi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Toplam </a:t>
            </a:r>
            <a:r>
              <a:rPr lang="tr-TR" sz="1600" b="1" dirty="0"/>
              <a:t>25.331 dermatoskopik görüntü</a:t>
            </a:r>
            <a:r>
              <a:rPr lang="tr-TR" sz="1600" dirty="0"/>
              <a:t> ve </a:t>
            </a:r>
            <a:r>
              <a:rPr lang="tr-TR" sz="1600" b="1" dirty="0"/>
              <a:t>8 farklı deri lezyonu sınıfı</a:t>
            </a:r>
            <a:r>
              <a:rPr lang="tr-TR" sz="1600" dirty="0"/>
              <a:t> içermektedir.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 </a:t>
            </a:r>
            <a:r>
              <a:rPr lang="tr-TR" sz="1600" b="1" dirty="0"/>
              <a:t>%80 eğitim, %10 doğrulama ve %10 test</a:t>
            </a:r>
            <a:r>
              <a:rPr lang="tr-TR" sz="1600" dirty="0"/>
              <a:t> olarak ayrılmıştır.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Çalışmada çok sınıflı deri lezyonu sınıflandırma problemi ele alınmıştır.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Veri kümesinde </a:t>
            </a:r>
            <a:r>
              <a:rPr lang="tr-TR" sz="1600" b="1" dirty="0"/>
              <a:t>sınıf dengesizliği</a:t>
            </a:r>
            <a:r>
              <a:rPr lang="tr-TR" sz="1600" dirty="0"/>
              <a:t>, </a:t>
            </a:r>
            <a:r>
              <a:rPr lang="tr-TR" sz="1600" b="1" dirty="0"/>
              <a:t>benzer görünümlü lezyonlar</a:t>
            </a:r>
            <a:r>
              <a:rPr lang="tr-TR" sz="1600" dirty="0"/>
              <a:t> ve </a:t>
            </a:r>
            <a:r>
              <a:rPr lang="tr-TR" sz="1600" b="1" dirty="0"/>
              <a:t>sınıflar arası yüksek benzerlik</a:t>
            </a:r>
            <a:r>
              <a:rPr lang="tr-TR" sz="1600" dirty="0"/>
              <a:t> gibi zorluklar bulunmaktadır.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Ödev 1’deki dataset kartından yararlanabilirsiniz; sunumda sadece gerekli kısmı verin.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Yöntem / Deney Tasarımı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Çalışmanızın odağına göre yöntemi genel ama anlaşılır şekilde anlatın.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4/10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Çalışmada transfer öğrenme tabanlı fine-tuning yaklaşımı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ViT, DeiT, CaiT, BEiT, Swin Transformer, PVT-v2, ConViT, MobileViT ve MaxViT modelleri karşılaştırılmıştır.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Tüm modeller aynı veri kümesi ve benzer eğitim parametreleri ile eğitilerek adil bir karşılaştırma sağlanmıştır.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Ön eğitimli (pretrained) ağırlıklar kullanılarak eğitim süresi azaltılmış ve genelleme performansının artırılması amaçlanmıştır.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Vision Transformer tabanlı mimariler, görüntülerdeki yerel ve küresel ilişkileri etkili şekilde öğrenebildikleri için deri lezyonu sınıflandırma problemi için uygun görülmüştür.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 öğrencinin aynı yöntemi kullanması beklenmez; kendi araştırma odağınıza uygun olanı anlatın.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Deneysel Kurulum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Sonuçların nasıl üretildiğini şeffaf biçimde gösterin.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5/10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Görüntüler 224×224 boyutuna yeniden ölçeklendirilmiştir.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Eğitim aşamasında Random Resized Crop, Horizontal Flip ve Color Jitter veri artırma teknikleri uygulanmıştır.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Modeller 50 epoch boyunca, batch size 32 olacak şekilde eğitilmiştir.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Optimizasyon için AdamW optimizer, 1×10⁻⁴ öğrenme oranı ve 1×10⁻⁴ weight decay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Kayıp fonksiyonu olarak Cross-Entropy Loss tercih edilmiştir.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Performans değerlendirmesinde Accuracy, Precision, Recall, Macro-F1 Score ve Confusion Matrix metrikleri kullanılmıştır.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dirty="0"/>
              <a:t>Eğitimler NVIDIA RTX 3060 GPU üzerinde gerçekleştirilmiş, erken durdurma (Early Stopping) ve öğrenme oranı azaltma (ReduceLROnPlateau) stratejileri uygulanmıştır.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Aynı koşullarda karşılaştırma yapılmadıysa bunu açıkça belirtin; bu durum tartışmada değerlendirilebilir.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Bulgular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sonuçları tablo, grafik veya kısa metinle sunun.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6/10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Elde edilen temel performans sonuçları.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Eğitim/doğrulama grafikleri veya confusion matrix gibi destekleyici çıktılar.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Varsa önceki ödevlerden gelen sonuçlarla birlikte düzenlenmiş karşılaştırma tablosu.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Sonuçların yalnızca sayısal değer olarak verilmemesi; kısa yorumla desteklenmesi.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Bütün çıktıları göstermek zorunda değilsiniz; makalenizdeki en önemli bulguları seçin.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Analiz ve Yorum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slayt, çalışmanızın araştırma odağına göre serbestçe şekillendirilebilir.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7/10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Seçtiğiniz ana karşılaştırma veya analiz ne gösteriyor?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Sonuçlardaki artış, düşüş veya farkların olası nedenleri nelerdir?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Performans, eğitim süresi, veri zorluğu veya model seçimi arasında nasıl bir denge var?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Hata analizi yapılmışsa, en çok karışan sınıflar ve muhtemel nedenler.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Buradaki maddeler örnektir; çalışmanızın türüne göre uygun olanları kullanın.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Literatürle İlişki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Kendi sonucunuzu literatür içinde konumlandırın.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8/10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Mümkünse aynı veri kümesi, değilse aynı problem alanındaki benzer çalışmalarla kısa karşılaştırma.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Karşılaştırmada yöntem, metrik, veri bölünmesi ve deney koşullarının farklı olabileceğini belirtme.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Literatürdeki sonuçları geçme zorunluluğu yoktur; amaç kendi sonucunuzu bağlam içinde değerlendirmektir.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bölüm tablo halinde ya da kısa anlatı şeklinde sunulabilir.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Makaledeki literatür ve tartışma bölümlerinizden seçilmiş kısa bir özet yeterlidir.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Tartışma ve Sınırlılıklar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Çalışmanın güçlü ve sınırlı yönlerini açıkça ifade edin.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9/10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Elde edilen bulguların genel yorumu.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Çalışmanın güçlü yönü: ne iyi yapıldı, ne gösterildi?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Sınırlılıklar: veri, model, compute, metrik, tek seed, split farkı vb.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 sınırlılıklar sonuçların yorumunu nasıl etkiliyor?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Sınırlılık yazmak çalışmayı zayıflatmaz; aksine akademik olgunluk gösterir.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2A5A"/>
          </a:solidFill>
          <a:ln w="12700">
            <a:solidFill>
              <a:srgbClr val="1E2A5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94360" y="4389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A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Sonuç ve Kaynaklar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961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 mesajı toparlayın ve kullandığınız kaynakları belirtin.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Makale/Bildiri Sunumu  •  10/10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9516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İleri Bilgisayarlı Görme ve Derin Öğrenme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00200"/>
            <a:ext cx="1037844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Çalışmanın en önemli sonucu veya çıkarımı.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Gelecekte yapılabilecek bir geliştirme önerisi.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Kullanılan veri kümesi, temel makaleler, model/kütüphane ve dokümantasyon kaynakları.</a:t>
            </a:r>
            <a:endParaRPr lang="en-US" sz="1550" dirty="0"/>
          </a:p>
          <a:p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Kaynak sayısı fazlaysa, bu slayt ikiye bölünebilir veya kaynaklar ek slayta taşınabilir.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5074920"/>
            <a:ext cx="10378440" cy="713232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87552" y="5248656"/>
            <a:ext cx="992124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1E2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slayt, çalışmanın ana mesajını net biçimde kapatmalıdır.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917</Words>
  <Application>Microsoft Office PowerPoint</Application>
  <PresentationFormat>Widescreen</PresentationFormat>
  <Paragraphs>104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Tokat Gaziosmanpaşa Üniversitesi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Makale/Bildiri Sunum Şablonu</dc:title>
  <dc:subject>Final makale/bildiri sunum şablonu</dc:subject>
  <dc:creator>OpenAI</dc:creator>
  <cp:lastModifiedBy>Emirhan AYDIN</cp:lastModifiedBy>
  <cp:revision>2</cp:revision>
  <dcterms:created xsi:type="dcterms:W3CDTF">2026-05-13T19:36:32Z</dcterms:created>
  <dcterms:modified xsi:type="dcterms:W3CDTF">2026-06-04T12:03:50Z</dcterms:modified>
</cp:coreProperties>
</file>