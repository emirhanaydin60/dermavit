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8" r:id="rId9"/>
    <p:sldId id="262" r:id="rId10"/>
    <p:sldId id="263" r:id="rId11"/>
    <p:sldId id="264" r:id="rId12"/>
    <p:sldId id="265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627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45D1E-85D5-6959-5F3F-B1B07C6F0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C79A9B-E3BB-2140-9124-2250968EE5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F10BBB-EADE-6D5A-98DC-8F474F67E0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EC5613-E46D-8DD9-2934-B67550A9DB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2656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20E6E-86E2-374B-205B-B72AB2DFB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D490B8-6CC1-5857-8C3C-ED496E4405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A5414B-54C6-A126-8E6B-3CC9D197DA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1CD17-DB86-A641-5312-37008A49B6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9703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2A5A"/>
          </a:solidFill>
          <a:ln w="12700">
            <a:solidFill>
              <a:srgbClr val="1E2A5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Final </a:t>
            </a:r>
            <a:r>
              <a:rPr lang="en-US" sz="3400" b="1" dirty="0" err="1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Bildiri</a:t>
            </a:r>
            <a:r>
              <a:rPr lang="en-US" sz="3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Sunumu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49808" y="1810512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F55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Görüntü Sınıflandırma Üzerine Akademik Çalışma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" y="2359152"/>
            <a:ext cx="1056132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" name="Text 5"/>
          <p:cNvSpPr/>
          <p:nvPr/>
        </p:nvSpPr>
        <p:spPr>
          <a:xfrm>
            <a:off x="777240" y="2834640"/>
            <a:ext cx="5394960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tr-TR" sz="16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Emirhan AYDIN</a:t>
            </a:r>
            <a:endParaRPr lang="en-US" sz="1600" dirty="0"/>
          </a:p>
          <a:p>
            <a:pPr marL="0" indent="0">
              <a:buNone/>
            </a:pPr>
            <a:r>
              <a:rPr lang="tr-TR" sz="16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ISIC 2019 </a:t>
            </a:r>
            <a:r>
              <a:rPr lang="en-US" sz="16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</a:t>
            </a:r>
            <a:r>
              <a:rPr lang="tr-TR" sz="16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Dermatolojik Görüntü Sınıflandırması</a:t>
            </a:r>
            <a:endParaRPr lang="en-US" sz="1600" dirty="0"/>
          </a:p>
          <a:p>
            <a:pPr marL="0" indent="0">
              <a:buNone/>
            </a:pPr>
            <a:r>
              <a:rPr lang="tr-TR" sz="1600" dirty="0"/>
              <a:t>ViT Modellerinin Fine Tune Sonuçlarının Karşılaştırılması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4709160"/>
            <a:ext cx="1014984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 sunum, final makale/bildiri çalışmasının ana fikrini, yöntemini, bulgularını ve tartışmasını kısa biçimde aktarmak için hazırlanmıştır.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6510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Makale/Bildiri Sunumu  •  1 /1</a:t>
            </a:r>
            <a:r>
              <a:rPr lang="tr-TR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99516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İleri Bilgisayarlı Görme ve Derin Öğrenme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2A5A"/>
          </a:solidFill>
          <a:ln w="12700">
            <a:solidFill>
              <a:srgbClr val="1E2A5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594360" y="4389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Problem ve Araştırma Odağı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96112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Makalenizin hangi soruya cevap aradığını netleştirin.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Makale/Bildiri Sunumu  •  2 /1</a:t>
            </a:r>
            <a:r>
              <a:rPr lang="tr-TR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99516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İleri Bilgisayarlı Görme ve Derin Öğrenme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00200"/>
            <a:ext cx="10378440" cy="3200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Problem: Dermatoskopik görüntülerden deri lezyonu sınıflandırılması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Veri Kümesi: ISIC 2019 (25.331 görüntü, 8 sınıf)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Amaç: Vision Transformer modellerinin karşılaştırılması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Kapsam: ViT, DeiT, CaiT, BEiT, Swin, PVT-v2, ConViT, MobileViT ve MaxViT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49808" y="5074920"/>
            <a:ext cx="10378440" cy="713232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987552" y="5248656"/>
            <a:ext cx="9921240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i="1" dirty="0">
                <a:solidFill>
                  <a:srgbClr val="1E2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 bölüm kısa olmalıdır; amaç, dinleyicinin çalışmanın yönünü hemen anlamasıdır.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2A5A"/>
          </a:solidFill>
          <a:ln w="12700">
            <a:solidFill>
              <a:srgbClr val="1E2A5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594360" y="4389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Veri Kümesi ve Problem Bağlamı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96112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Veriyi tanıtın; ancak önceki ödevin uzun tekrarını yapmayın.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Makale/Bildiri Sunumu  •  3 /1</a:t>
            </a:r>
            <a:r>
              <a:rPr lang="tr-TR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99516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İleri Bilgisayarlı Görme ve Derin Öğrenme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00200"/>
            <a:ext cx="10378440" cy="3200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ISIC 2019 Challenge veri kümesi kullanılmıştır.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Toplam </a:t>
            </a:r>
            <a:r>
              <a:rPr lang="tr-TR" sz="1600" b="1" dirty="0"/>
              <a:t>25.331 dermatoskopik görüntü</a:t>
            </a:r>
            <a:r>
              <a:rPr lang="tr-TR" sz="1600" dirty="0"/>
              <a:t> ve </a:t>
            </a:r>
            <a:r>
              <a:rPr lang="tr-TR" sz="1600" b="1" dirty="0"/>
              <a:t>8 farklı deri lezyonu sınıfı</a:t>
            </a:r>
            <a:r>
              <a:rPr lang="tr-TR" sz="1600" dirty="0"/>
              <a:t> içermektedir.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Veri kümesi </a:t>
            </a:r>
            <a:r>
              <a:rPr lang="tr-TR" sz="1600" b="1" dirty="0"/>
              <a:t>%80 eğitim, %10 doğrulama ve %10 test</a:t>
            </a:r>
            <a:r>
              <a:rPr lang="tr-TR" sz="1600" dirty="0"/>
              <a:t> olarak ayrılmıştır.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Çalışmada çok sınıflı deri lezyonu sınıflandırma problemi ele alınmıştır.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Veri kümesinde </a:t>
            </a:r>
            <a:r>
              <a:rPr lang="tr-TR" sz="1600" b="1" dirty="0"/>
              <a:t>sınıf dengesizliği</a:t>
            </a:r>
            <a:r>
              <a:rPr lang="tr-TR" sz="1600" dirty="0"/>
              <a:t>, </a:t>
            </a:r>
            <a:r>
              <a:rPr lang="tr-TR" sz="1600" b="1" dirty="0"/>
              <a:t>benzer görünümlü lezyonlar</a:t>
            </a:r>
            <a:r>
              <a:rPr lang="tr-TR" sz="1600" dirty="0"/>
              <a:t> ve </a:t>
            </a:r>
            <a:r>
              <a:rPr lang="tr-TR" sz="1600" b="1" dirty="0"/>
              <a:t>sınıflar arası yüksek benzerlik</a:t>
            </a:r>
            <a:r>
              <a:rPr lang="tr-TR" sz="1600" dirty="0"/>
              <a:t> gibi zorluklar bulunmaktadır.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49808" y="5074920"/>
            <a:ext cx="10378440" cy="713232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987552" y="5248656"/>
            <a:ext cx="9921240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i="1" dirty="0">
                <a:solidFill>
                  <a:srgbClr val="1E2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Ödev 1’deki dataset kartından yararlanabilirsiniz; sunumda sadece gerekli kısmı verin.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2A5A"/>
          </a:solidFill>
          <a:ln w="12700">
            <a:solidFill>
              <a:srgbClr val="1E2A5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594360" y="4389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Yöntem / Deney Tasarımı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96112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Çalışmanızın odağına göre yöntemi genel ama anlaşılır şekilde anlatın.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Makale/Bildiri Sunumu  •  4 /1</a:t>
            </a:r>
            <a:r>
              <a:rPr lang="tr-TR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99516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İleri Bilgisayarlı Görme ve Derin Öğrenme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00200"/>
            <a:ext cx="10378440" cy="3200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Çalışmada transfer öğrenme tabanlı fine-tuning yaklaşımı kullanılmıştır.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ViT, DeiT, CaiT, BEiT, Swin Transformer, PVT-v2, ConViT, MobileViT ve MaxViT modelleri karşılaştırılmıştır.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Tüm modeller aynı veri kümesi ve benzer eğitim parametreleri ile eğitilerek adil bir karşılaştırma sağlanmıştır.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Ön eğitimli (pretrained) ağırlıklar kullanılarak eğitim süresi azaltılmış ve genelleme performansının artırılması amaçlanmıştır.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Vision Transformer tabanlı mimariler, görüntülerdeki yerel ve küresel ilişkileri etkili şekilde öğrenebildikleri için deri lezyonu sınıflandırma problemi için uygun görülmüştür.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49808" y="5074920"/>
            <a:ext cx="10378440" cy="713232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987552" y="5248656"/>
            <a:ext cx="9921240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i="1" dirty="0">
                <a:solidFill>
                  <a:srgbClr val="1E2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 öğrencinin aynı yöntemi kullanması beklenmez; kendi araştırma odağınıza uygun olanı anlatın.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2A5A"/>
          </a:solidFill>
          <a:ln w="12700">
            <a:solidFill>
              <a:srgbClr val="1E2A5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594360" y="4389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Deneysel Kurulum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96112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Sonuçların nasıl üretildiğini şeffaf biçimde gösterin.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Makale/Bildiri Sunumu  •  5 /1</a:t>
            </a:r>
            <a:r>
              <a:rPr lang="tr-TR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99516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İleri Bilgisayarlı Görme ve Derin Öğrenme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00200"/>
            <a:ext cx="10378440" cy="3200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Görüntüler 224×224 boyutuna yeniden ölçeklendirilmiştir.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Eğitim aşamasında Random Resized Crop, Horizontal Flip ve Color Jitter veri artırma teknikleri uygulanmıştır.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Modeller 50 epoch boyunca, batch size 32 olacak şekilde eğitilmiştir.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Optimizasyon için AdamW optimizer, 1×10⁻⁴ öğrenme oranı ve 1×10⁻⁴ weight decay kullanılmıştır.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Kayıp fonksiyonu olarak Cross-Entropy Loss tercih edilmiştir.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Performans değerlendirmesinde Accuracy, Precision, Recall, Macro-F1 Score ve Confusion Matrix metrikleri kullanılmıştır.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Eğitimler NVIDIA RTX 3060 GPU üzerinde gerçekleştirilmiş, erken durdurma (Early Stopping) ve öğrenme oranı azaltma (ReduceLROnPlateau) stratejileri uygulanmıştır.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49808" y="5074920"/>
            <a:ext cx="10378440" cy="713232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987552" y="5248656"/>
            <a:ext cx="9921240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i="1" dirty="0">
                <a:solidFill>
                  <a:srgbClr val="1E2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Aynı koşullarda karşılaştırma yapılmadıysa bunu açıkça belirtin; bu durum tartışmada değerlendirilebilir.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2A5A"/>
          </a:solidFill>
          <a:ln w="12700">
            <a:solidFill>
              <a:srgbClr val="1E2A5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594360" y="4389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</a:t>
            </a:r>
            <a:r>
              <a:rPr lang="en-US" sz="2400" b="1" dirty="0" err="1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Bulgular</a:t>
            </a:r>
            <a:r>
              <a:rPr lang="tr-TR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- 1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96112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 sonuçları tablo, grafik veya kısa metinle sunun.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Makale/Bildiri Sunumu  •  6 /1</a:t>
            </a:r>
            <a:r>
              <a:rPr lang="tr-TR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99516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İleri Bilgisayarlı Görme ve Derin Öğrenme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00200"/>
            <a:ext cx="10378440" cy="3200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ISIC2019 üzerinde 9 ViT modeli test edildi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En iyi model: </a:t>
            </a:r>
            <a:r>
              <a:rPr lang="tr-TR" sz="1600" b="1" dirty="0"/>
              <a:t>Swin-Small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1600" dirty="0"/>
              <a:t>Accuracy: </a:t>
            </a:r>
            <a:r>
              <a:rPr lang="tr-TR" sz="1600" b="1" dirty="0"/>
              <a:t>%88.93</a:t>
            </a:r>
            <a:r>
              <a:rPr lang="tr-TR" sz="1600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1600" dirty="0"/>
              <a:t>Macro-F1: </a:t>
            </a:r>
            <a:r>
              <a:rPr lang="tr-TR" sz="1600" b="1" dirty="0"/>
              <a:t>0.8435</a:t>
            </a:r>
            <a:r>
              <a:rPr lang="tr-TR" sz="16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En zayıf: </a:t>
            </a:r>
            <a:r>
              <a:rPr lang="tr-TR" sz="1600" b="1" dirty="0"/>
              <a:t>MobileViT-XS</a:t>
            </a:r>
            <a:r>
              <a:rPr lang="tr-TR" sz="16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Genel olarak ViT modelleri güçlü performans gösterdi MEL ↔ NV en çok karışan sınıflar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49808" y="5074920"/>
            <a:ext cx="10378440" cy="713232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987552" y="5248656"/>
            <a:ext cx="9921240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i="1" dirty="0">
                <a:solidFill>
                  <a:srgbClr val="1E2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Bütün çıktıları göstermek zorunda değilsiniz; makalenizdeki en önemli bulguları seçin.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C11289-9FAE-05D1-69F7-B2D7C7B69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D080AD5-962A-9871-1520-D1AE245D0823}"/>
              </a:ext>
            </a:extLst>
          </p:cNvPr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2A5A"/>
          </a:solidFill>
          <a:ln w="12700">
            <a:solidFill>
              <a:srgbClr val="1E2A5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E12428-4462-C0D5-F993-334758C62007}"/>
              </a:ext>
            </a:extLst>
          </p:cNvPr>
          <p:cNvSpPr/>
          <p:nvPr/>
        </p:nvSpPr>
        <p:spPr>
          <a:xfrm>
            <a:off x="594360" y="4389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r>
              <a:rPr lang="en-US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. </a:t>
            </a:r>
            <a:r>
              <a:rPr lang="en-US" sz="2400" b="1" dirty="0" err="1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Bulgular</a:t>
            </a:r>
            <a:r>
              <a:rPr lang="tr-TR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- 2</a:t>
            </a:r>
            <a:endParaRPr lang="en-US" sz="2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79FEC7C-5B6E-FD6F-8C23-1AECE0A6EA89}"/>
              </a:ext>
            </a:extLst>
          </p:cNvPr>
          <p:cNvSpPr/>
          <p:nvPr/>
        </p:nvSpPr>
        <p:spPr>
          <a:xfrm>
            <a:off x="612648" y="896112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 sonuçları tablo, grafik veya kısa metinle sunun.</a:t>
            </a:r>
            <a:endParaRPr lang="en-US" sz="10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D378D05-A88F-F20A-D78C-D1B4E140FAB9}"/>
              </a:ext>
            </a:extLst>
          </p:cNvPr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089F43E-BD9B-79A9-7E81-7DC987CB101D}"/>
              </a:ext>
            </a:extLst>
          </p:cNvPr>
          <p:cNvSpPr/>
          <p:nvPr/>
        </p:nvSpPr>
        <p:spPr>
          <a:xfrm>
            <a:off x="594360" y="6510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Makale/Bildiri Sunumu  •  </a:t>
            </a:r>
            <a:r>
              <a:rPr lang="tr-TR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/1</a:t>
            </a:r>
            <a:r>
              <a:rPr lang="tr-TR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3B3E9EA-DE04-0639-310C-D4CE0886807E}"/>
              </a:ext>
            </a:extLst>
          </p:cNvPr>
          <p:cNvSpPr/>
          <p:nvPr/>
        </p:nvSpPr>
        <p:spPr>
          <a:xfrm>
            <a:off x="699516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İleri Bilgisayarlı Görme ve Derin Öğrenme</a:t>
            </a:r>
            <a:endParaRPr lang="en-US" sz="8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D2F096B-46BB-6999-B0E2-4FA54F284F3E}"/>
              </a:ext>
            </a:extLst>
          </p:cNvPr>
          <p:cNvSpPr/>
          <p:nvPr/>
        </p:nvSpPr>
        <p:spPr>
          <a:xfrm>
            <a:off x="749808" y="1600200"/>
            <a:ext cx="10378440" cy="3200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endParaRPr lang="en-US" sz="155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3842B5A-D022-4B27-2F71-EC37951C92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1381434"/>
            <a:ext cx="6581782" cy="4907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739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5AB49D-CA84-1A43-1FF6-76522EA96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53DCE8E-F538-0594-DBA3-FFF5D1F2DFA5}"/>
              </a:ext>
            </a:extLst>
          </p:cNvPr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2A5A"/>
          </a:solidFill>
          <a:ln w="12700">
            <a:solidFill>
              <a:srgbClr val="1E2A5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420AA58-E412-3F69-16BD-90B602B12AE3}"/>
              </a:ext>
            </a:extLst>
          </p:cNvPr>
          <p:cNvSpPr/>
          <p:nvPr/>
        </p:nvSpPr>
        <p:spPr>
          <a:xfrm>
            <a:off x="594360" y="4389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</a:t>
            </a:r>
            <a:r>
              <a:rPr lang="en-US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. </a:t>
            </a:r>
            <a:r>
              <a:rPr lang="en-US" sz="2400" b="1" dirty="0" err="1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Bulgular</a:t>
            </a:r>
            <a:r>
              <a:rPr lang="tr-TR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- 3</a:t>
            </a:r>
            <a:endParaRPr lang="en-US" sz="2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5553BDB-A2CE-DD4D-2673-4B2264A21CA9}"/>
              </a:ext>
            </a:extLst>
          </p:cNvPr>
          <p:cNvSpPr/>
          <p:nvPr/>
        </p:nvSpPr>
        <p:spPr>
          <a:xfrm>
            <a:off x="612648" y="896112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 sonuçları tablo, grafik veya kısa metinle sunun.</a:t>
            </a:r>
            <a:endParaRPr lang="en-US" sz="10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988580B-2608-9DDA-4230-9DEC7F3582F3}"/>
              </a:ext>
            </a:extLst>
          </p:cNvPr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49A2D7D-FD4A-92C8-922D-47080B193A2D}"/>
              </a:ext>
            </a:extLst>
          </p:cNvPr>
          <p:cNvSpPr/>
          <p:nvPr/>
        </p:nvSpPr>
        <p:spPr>
          <a:xfrm>
            <a:off x="594360" y="6510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Makale/Bildiri </a:t>
            </a:r>
            <a:r>
              <a:rPr lang="en-US" sz="850" dirty="0" err="1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Sunumu</a:t>
            </a: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•  </a:t>
            </a:r>
            <a:r>
              <a:rPr lang="tr-TR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/1</a:t>
            </a:r>
            <a:r>
              <a:rPr lang="tr-TR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44ABDEA-16A7-29BB-1E55-0C1DD466B77F}"/>
              </a:ext>
            </a:extLst>
          </p:cNvPr>
          <p:cNvSpPr/>
          <p:nvPr/>
        </p:nvSpPr>
        <p:spPr>
          <a:xfrm>
            <a:off x="699516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İleri Bilgisayarlı Görme ve Derin Öğrenme</a:t>
            </a:r>
            <a:endParaRPr lang="en-US" sz="8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7C0B6D9-AD74-9BC0-8717-9F53A3116C75}"/>
              </a:ext>
            </a:extLst>
          </p:cNvPr>
          <p:cNvSpPr/>
          <p:nvPr/>
        </p:nvSpPr>
        <p:spPr>
          <a:xfrm>
            <a:off x="749808" y="1600200"/>
            <a:ext cx="10378440" cy="3200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endParaRPr lang="en-US" sz="15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D511F52-43A0-DAFD-E0DA-71500BA05D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1369701"/>
            <a:ext cx="9859820" cy="4970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4159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2A5A"/>
          </a:solidFill>
          <a:ln w="12700">
            <a:solidFill>
              <a:srgbClr val="1E2A5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594360" y="4389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</a:t>
            </a:r>
            <a:r>
              <a:rPr lang="en-US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. Analiz ve Yorum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96112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 slayt, çalışmanızın araştırma odağına göre serbestçe şekillendirilebilir.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Makale/Bildiri Sunumu  •  </a:t>
            </a:r>
            <a:r>
              <a:rPr lang="tr-TR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/1</a:t>
            </a:r>
            <a:r>
              <a:rPr lang="tr-TR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99516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İleri Bilgisayarlı Görme ve Derin Öğrenme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00200"/>
            <a:ext cx="10378440" cy="3200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Swin-Small başarısı: Hiyerarşik attention → daha iyi genelleme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MobileViT düşük performans: Mobil odaklı → düşük temsil kapasitesi (en düşük GAP)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MaxViT / ViT / DeiT: Dengeli ama Swin kadar güçlü değil</a:t>
            </a:r>
          </a:p>
        </p:txBody>
      </p:sp>
      <p:sp>
        <p:nvSpPr>
          <p:cNvPr id="9" name="Shape 7"/>
          <p:cNvSpPr/>
          <p:nvPr/>
        </p:nvSpPr>
        <p:spPr>
          <a:xfrm>
            <a:off x="749808" y="5074920"/>
            <a:ext cx="10378440" cy="713232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987552" y="5248656"/>
            <a:ext cx="9921240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i="1" dirty="0">
                <a:solidFill>
                  <a:srgbClr val="1E2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Buradaki maddeler örnektir; çalışmanızın türüne göre uygun olanları kullanın.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2A5A"/>
          </a:solidFill>
          <a:ln w="12700">
            <a:solidFill>
              <a:srgbClr val="1E2A5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594360" y="4389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r>
              <a:rPr lang="en-US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. Literatürle İlişki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96112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Kendi sonucunuzu literatür içinde konumlandırın.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Makale/Bildiri Sunumu  •  </a:t>
            </a:r>
            <a:r>
              <a:rPr lang="tr-TR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/1</a:t>
            </a:r>
            <a:r>
              <a:rPr lang="tr-TR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99516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İleri Bilgisayarlı Görme ve Derin Öğrenme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00200"/>
            <a:ext cx="10378440" cy="3200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Swin Transformer literatürde ~%82.3 BA (Ayas)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Bu çalışma: </a:t>
            </a:r>
            <a:r>
              <a:rPr lang="tr-TR" sz="1600" b="1" dirty="0"/>
              <a:t>%82.4 BA</a:t>
            </a:r>
            <a:r>
              <a:rPr lang="tr-TR" sz="1600" dirty="0"/>
              <a:t> – %89~ Accuracy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CNN tabanlı çalışmalar: Bazı hibrit modeller %93+ Accuracy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Farklar Nedenleri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1600" dirty="0"/>
              <a:t>veri split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1600" dirty="0"/>
              <a:t>augmentation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1600" dirty="0"/>
              <a:t>model kapasitesi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1600" dirty="0"/>
              <a:t>training protocol</a:t>
            </a:r>
          </a:p>
        </p:txBody>
      </p:sp>
      <p:sp>
        <p:nvSpPr>
          <p:cNvPr id="9" name="Shape 7"/>
          <p:cNvSpPr/>
          <p:nvPr/>
        </p:nvSpPr>
        <p:spPr>
          <a:xfrm>
            <a:off x="749808" y="5074920"/>
            <a:ext cx="10378440" cy="713232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987552" y="5248656"/>
            <a:ext cx="9921240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i="1" dirty="0">
                <a:solidFill>
                  <a:srgbClr val="1E2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Makaledeki literatür ve tartışma bölümlerinizden seçilmiş kısa bir özet yeterlidir.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2A5A"/>
          </a:solidFill>
          <a:ln w="12700">
            <a:solidFill>
              <a:srgbClr val="1E2A5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594360" y="4389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r>
              <a:rPr lang="en-US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. Tartışma ve Sınırlılıklar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96112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Çalışmanın güçlü ve sınırlı yönlerini açıkça ifade edin.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Makale/Bildiri Sunumu  •  </a:t>
            </a:r>
            <a:r>
              <a:rPr lang="tr-TR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/1</a:t>
            </a:r>
            <a:r>
              <a:rPr lang="tr-TR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99516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İleri Bilgisayarlı Görme ve Derin Öğrenme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00200"/>
            <a:ext cx="10378440" cy="3200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b="1" dirty="0"/>
              <a:t>Güçlü yönler:</a:t>
            </a:r>
            <a:endParaRPr lang="tr-TR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1600" dirty="0"/>
              <a:t>Tüm modeller aynı koşulda karşılaştırıldı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1600" dirty="0"/>
              <a:t>Adil benchmarking yapıldı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tr-TR" sz="16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b="1" dirty="0"/>
              <a:t>Sınırlılıklar:</a:t>
            </a:r>
            <a:endParaRPr lang="tr-TR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1600" dirty="0"/>
              <a:t>Tek seed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1600" dirty="0"/>
              <a:t>50 epoch limit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1600" dirty="0"/>
              <a:t>Class imbalance (NV baskın)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1600" dirty="0"/>
              <a:t>Sadece ImageNet pretrained modeller</a:t>
            </a:r>
          </a:p>
        </p:txBody>
      </p:sp>
      <p:sp>
        <p:nvSpPr>
          <p:cNvPr id="9" name="Shape 7"/>
          <p:cNvSpPr/>
          <p:nvPr/>
        </p:nvSpPr>
        <p:spPr>
          <a:xfrm>
            <a:off x="749808" y="5074920"/>
            <a:ext cx="10378440" cy="713232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987552" y="5248656"/>
            <a:ext cx="9921240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i="1" dirty="0">
                <a:solidFill>
                  <a:srgbClr val="1E2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Sınırlılık yazmak çalışmayı zayıflatmaz; aksine akademik olgunluk gösterir.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2A5A"/>
          </a:solidFill>
          <a:ln w="12700">
            <a:solidFill>
              <a:srgbClr val="1E2A5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594360" y="4389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r>
              <a:rPr lang="en-US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. Sonuç ve Kaynaklar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96112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 mesajı toparlayın ve kullandığınız kaynakları belirtin.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Makale/Bildiri Sunumu  •  1</a:t>
            </a:r>
            <a:r>
              <a:rPr lang="tr-TR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/1</a:t>
            </a:r>
            <a:r>
              <a:rPr lang="tr-TR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99516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İleri Bilgisayarlı Görme ve Derin Öğrenme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00200"/>
            <a:ext cx="10378440" cy="3200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ISIC2019 dataset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Vision Transformer literature (ViT, Swin, DeiT vs.)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PyTorch + timm library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IEEE / arXiv papers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49808" y="5074920"/>
            <a:ext cx="10378440" cy="713232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987552" y="5248656"/>
            <a:ext cx="9921240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i="1" dirty="0">
                <a:solidFill>
                  <a:srgbClr val="1E2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Son slayt, çalışmanın ana mesajını net biçimde kapatmalıdır.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957</Words>
  <Application>Microsoft Office PowerPoint</Application>
  <PresentationFormat>Widescreen</PresentationFormat>
  <Paragraphs>124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Tokat Gaziosmanpaşa Üniversitesi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Makale/Bildiri Sunum Şablonu</dc:title>
  <dc:subject>Final makale/bildiri sunum şablonu</dc:subject>
  <dc:creator>OpenAI</dc:creator>
  <cp:lastModifiedBy>Emirhan AYDIN</cp:lastModifiedBy>
  <cp:revision>3</cp:revision>
  <dcterms:created xsi:type="dcterms:W3CDTF">2026-05-13T19:36:32Z</dcterms:created>
  <dcterms:modified xsi:type="dcterms:W3CDTF">2026-06-05T11:48:41Z</dcterms:modified>
</cp:coreProperties>
</file>